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d59a13ff-6165-f3f2-3257-2438b8f591a3}">
          <p14:sldIdLst>
            <p14:sldId id="256"/>
            <p14:sldId id="257"/>
            <p14:sldId id="258"/>
          </p14:sldIdLst>
        </p14:section>
        <p14:section name="Estructura de datos" id="{f596f385-c1f1-966c-b3c9-648ad60fa006}">
          <p14:sldIdLst>
            <p14:sldId id="259"/>
            <p14:sldId id="260"/>
            <p14:sldId id="261"/>
            <p14:sldId id="262"/>
          </p14:sldIdLst>
        </p14:section>
        <p14:section name="Análisis" id="{e9090f73-4540-f926-9d04-e6013ec927b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0B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69494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5196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Propuesta de caso acotado  |  Control de gestión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73152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PROPUESTA DE CASO ACOTADO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92024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Control de gestión: modelo de presupuesto vs. real por centro de costo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2519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Diseño de una base de datos para comparar presupuesto y gasto real por área y centro de costo</a:t>
            </a:r>
            <a:endParaRPr lang="en-US" sz="1800" dirty="0"/>
          </a:p>
        </p:txBody>
      </p:sp>
      <p:sp>
        <p:nvSpPr>
          <p:cNvPr id="5" name="Circulo grande"/>
          <p:cNvSpPr/>
          <p:nvPr/>
        </p:nvSpPr>
        <p:spPr>
          <a:xfrm>
            <a:off x="8412480" y="1371600"/>
            <a:ext cx="3657600" cy="3657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o grafic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2468880"/>
            <a:ext cx="1463040" cy="1463040"/>
          </a:xfrm>
          <a:prstGeom prst="rect">
            <a:avLst/>
          </a:prstGeom>
        </p:spPr>
      </p:pic>
      <p:sp>
        <p:nvSpPr>
          <p:cNvPr id="7" name="Circulo acento"/>
          <p:cNvSpPr/>
          <p:nvPr/>
        </p:nvSpPr>
        <p:spPr>
          <a:xfrm>
            <a:off x="7955280" y="448056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Circulo pequeno"/>
          <p:cNvSpPr/>
          <p:nvPr/>
        </p:nvSpPr>
        <p:spPr>
          <a:xfrm>
            <a:off x="11247120" y="9144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Contexto y objetivo</a:t>
            </a:r>
            <a:endParaRPr lang="en-US" sz="3200" dirty="0"/>
          </a:p>
        </p:txBody>
      </p:sp>
      <p:sp>
        <p:nvSpPr>
          <p:cNvPr id="3" name="Panel caso"/>
          <p:cNvSpPr/>
          <p:nvPr/>
        </p:nvSpPr>
        <p:spPr>
          <a:xfrm>
            <a:off x="548640" y="1554480"/>
            <a:ext cx="512064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2"/>
                </a:solidFill>
              </a:rPr>
              <a:t>EL CASO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Una empresa del sector consumo masivo quiere comparar el presupuesto asignado a cada área y centro de costo frente al gasto real ejecutado en los períodos de su ciclo de planeamiento financiero.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7548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El objetivo: que control de gestión identifique dónde y cuánto se desvía el gasto.</a:t>
            </a:r>
            <a:endParaRPr lang="en-US" sz="1600" dirty="0"/>
          </a:p>
        </p:txBody>
      </p:sp>
      <p:sp>
        <p:nvSpPr>
          <p:cNvPr id="7" name="Fila 1"/>
          <p:cNvSpPr/>
          <p:nvPr/>
        </p:nvSpPr>
        <p:spPr>
          <a:xfrm>
            <a:off x="6035040" y="1554480"/>
            <a:ext cx="56052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Fila 1 circulo"/>
          <p:cNvSpPr/>
          <p:nvPr/>
        </p:nvSpPr>
        <p:spPr>
          <a:xfrm>
            <a:off x="6355080" y="1901952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Fila 1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246" y="2087118"/>
            <a:ext cx="315468" cy="3154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Centros de costo más desviados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1762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centros se alejan más del presupuesto asignado.</a:t>
            </a:r>
            <a:endParaRPr lang="en-US" sz="1400" dirty="0"/>
          </a:p>
        </p:txBody>
      </p:sp>
      <p:sp>
        <p:nvSpPr>
          <p:cNvPr id="12" name="Fila 2"/>
          <p:cNvSpPr/>
          <p:nvPr/>
        </p:nvSpPr>
        <p:spPr>
          <a:xfrm>
            <a:off x="6035040" y="3154680"/>
            <a:ext cx="56052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Fila 2 circulo"/>
          <p:cNvSpPr/>
          <p:nvPr/>
        </p:nvSpPr>
        <p:spPr>
          <a:xfrm>
            <a:off x="6355080" y="3502152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Fila 2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246" y="3687318"/>
            <a:ext cx="315468" cy="3154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152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Cuentas con sobre y subejecución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37764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Qué cuentas presupuestarias concentran la mayor desviación.</a:t>
            </a:r>
            <a:endParaRPr lang="en-US" sz="1400" dirty="0"/>
          </a:p>
        </p:txBody>
      </p:sp>
      <p:sp>
        <p:nvSpPr>
          <p:cNvPr id="17" name="Fila 3"/>
          <p:cNvSpPr/>
          <p:nvPr/>
        </p:nvSpPr>
        <p:spPr>
          <a:xfrm>
            <a:off x="6035040" y="4754880"/>
            <a:ext cx="56052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8" name="Fila 3 circulo"/>
          <p:cNvSpPr/>
          <p:nvPr/>
        </p:nvSpPr>
        <p:spPr>
          <a:xfrm>
            <a:off x="6355080" y="5102352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Fila 3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246" y="5287518"/>
            <a:ext cx="315468" cy="3154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15200" y="4983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Evolución durante el año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0" y="5376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Cómo cambia la desviación mes a mes a lo largo del ejercicio.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Alcance del proyecto</a:t>
            </a:r>
            <a:endParaRPr lang="en-US" sz="3200" dirty="0"/>
          </a:p>
        </p:txBody>
      </p:sp>
      <p:sp>
        <p:nvSpPr>
          <p:cNvPr id="3" name="Panel incluido"/>
          <p:cNvSpPr/>
          <p:nvPr/>
        </p:nvSpPr>
        <p:spPr>
          <a:xfrm>
            <a:off x="548640" y="1554480"/>
            <a:ext cx="67665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Dentro del alcance</a:t>
            </a:r>
            <a:endParaRPr lang="en-US" sz="2200" dirty="0"/>
          </a:p>
        </p:txBody>
      </p:sp>
      <p:sp>
        <p:nvSpPr>
          <p:cNvPr id="5" name="Chip incluido 1"/>
          <p:cNvSpPr/>
          <p:nvPr/>
        </p:nvSpPr>
        <p:spPr>
          <a:xfrm>
            <a:off x="868680" y="2468880"/>
            <a:ext cx="29260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6" name="Check circulo 1"/>
          <p:cNvSpPr/>
          <p:nvPr/>
        </p:nvSpPr>
        <p:spPr>
          <a:xfrm>
            <a:off x="1005840" y="2615184"/>
            <a:ext cx="393192" cy="3931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heck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715768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27048" y="2468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Áreas</a:t>
            </a:r>
            <a:endParaRPr lang="en-US" sz="1500" dirty="0"/>
          </a:p>
        </p:txBody>
      </p:sp>
      <p:sp>
        <p:nvSpPr>
          <p:cNvPr id="9" name="Chip incluido 2"/>
          <p:cNvSpPr/>
          <p:nvPr/>
        </p:nvSpPr>
        <p:spPr>
          <a:xfrm>
            <a:off x="3977640" y="2468880"/>
            <a:ext cx="29260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10" name="Check circulo 2"/>
          <p:cNvSpPr/>
          <p:nvPr/>
        </p:nvSpPr>
        <p:spPr>
          <a:xfrm>
            <a:off x="4114800" y="2615184"/>
            <a:ext cx="393192" cy="3931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heck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2715768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6008" y="2468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Centros de costo</a:t>
            </a:r>
            <a:endParaRPr lang="en-US" sz="1500" dirty="0"/>
          </a:p>
        </p:txBody>
      </p:sp>
      <p:sp>
        <p:nvSpPr>
          <p:cNvPr id="13" name="Chip incluido 3"/>
          <p:cNvSpPr/>
          <p:nvPr/>
        </p:nvSpPr>
        <p:spPr>
          <a:xfrm>
            <a:off x="868680" y="3337560"/>
            <a:ext cx="29260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14" name="Check circulo 3"/>
          <p:cNvSpPr/>
          <p:nvPr/>
        </p:nvSpPr>
        <p:spPr>
          <a:xfrm>
            <a:off x="1005840" y="3483864"/>
            <a:ext cx="393192" cy="3931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Check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3584448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27048" y="3337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Cuentas presupuestarias</a:t>
            </a:r>
            <a:endParaRPr lang="en-US" sz="1500" dirty="0"/>
          </a:p>
        </p:txBody>
      </p:sp>
      <p:sp>
        <p:nvSpPr>
          <p:cNvPr id="17" name="Chip incluido 4"/>
          <p:cNvSpPr/>
          <p:nvPr/>
        </p:nvSpPr>
        <p:spPr>
          <a:xfrm>
            <a:off x="3977640" y="3337560"/>
            <a:ext cx="29260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18" name="Check circulo 4"/>
          <p:cNvSpPr/>
          <p:nvPr/>
        </p:nvSpPr>
        <p:spPr>
          <a:xfrm>
            <a:off x="4114800" y="3483864"/>
            <a:ext cx="393192" cy="3931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Check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584448"/>
            <a:ext cx="192024" cy="19202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636008" y="33375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Versiones de presupuesto</a:t>
            </a:r>
            <a:endParaRPr lang="en-US" sz="1500" dirty="0"/>
          </a:p>
        </p:txBody>
      </p:sp>
      <p:sp>
        <p:nvSpPr>
          <p:cNvPr id="21" name="Chip incluido 5"/>
          <p:cNvSpPr/>
          <p:nvPr/>
        </p:nvSpPr>
        <p:spPr>
          <a:xfrm>
            <a:off x="868680" y="4206240"/>
            <a:ext cx="29260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22" name="Check circulo 5"/>
          <p:cNvSpPr/>
          <p:nvPr/>
        </p:nvSpPr>
        <p:spPr>
          <a:xfrm>
            <a:off x="1005840" y="4352544"/>
            <a:ext cx="393192" cy="3931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Check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453128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27048" y="4206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Períodos de análisis</a:t>
            </a:r>
            <a:endParaRPr lang="en-US" sz="1500" dirty="0"/>
          </a:p>
        </p:txBody>
      </p:sp>
      <p:sp>
        <p:nvSpPr>
          <p:cNvPr id="25" name="Chip incluido 6"/>
          <p:cNvSpPr/>
          <p:nvPr/>
        </p:nvSpPr>
        <p:spPr>
          <a:xfrm>
            <a:off x="3977640" y="4206240"/>
            <a:ext cx="29260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26" name="Check circulo 6"/>
          <p:cNvSpPr/>
          <p:nvPr/>
        </p:nvSpPr>
        <p:spPr>
          <a:xfrm>
            <a:off x="4114800" y="4352544"/>
            <a:ext cx="393192" cy="3931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Check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384" y="4453128"/>
            <a:ext cx="192024" cy="19202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636008" y="4206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Montos presupuestados</a:t>
            </a:r>
            <a:endParaRPr lang="en-US" sz="1500" dirty="0"/>
          </a:p>
        </p:txBody>
      </p:sp>
      <p:sp>
        <p:nvSpPr>
          <p:cNvPr id="29" name="Chip incluido 7"/>
          <p:cNvSpPr/>
          <p:nvPr/>
        </p:nvSpPr>
        <p:spPr>
          <a:xfrm>
            <a:off x="868680" y="5074920"/>
            <a:ext cx="292608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30" name="Check circulo 7"/>
          <p:cNvSpPr/>
          <p:nvPr/>
        </p:nvSpPr>
        <p:spPr>
          <a:xfrm>
            <a:off x="1005840" y="5221224"/>
            <a:ext cx="393192" cy="39319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Check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424" y="5321808"/>
            <a:ext cx="192024" cy="19202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527048" y="5074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Montos reales ejecutados</a:t>
            </a:r>
            <a:endParaRPr lang="en-US" sz="1500" dirty="0"/>
          </a:p>
        </p:txBody>
      </p:sp>
      <p:sp>
        <p:nvSpPr>
          <p:cNvPr id="33" name="Panel excluido"/>
          <p:cNvSpPr/>
          <p:nvPr/>
        </p:nvSpPr>
        <p:spPr>
          <a:xfrm>
            <a:off x="7589520" y="1554480"/>
            <a:ext cx="4050792" cy="4572000"/>
          </a:xfrm>
          <a:prstGeom prst="roundRect">
            <a:avLst>
              <a:gd name="adj" fmla="val 2709"/>
            </a:avLst>
          </a:prstGeom>
          <a:solidFill>
            <a:schemeClr val="bg1"/>
          </a:solidFill>
          <a:ln w="12700">
            <a:solidFill>
              <a:srgbClr val="A9CFC9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790956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Fuera del alcance</a:t>
            </a:r>
            <a:endParaRPr lang="en-US" sz="2200" dirty="0"/>
          </a:p>
        </p:txBody>
      </p:sp>
      <p:sp>
        <p:nvSpPr>
          <p:cNvPr id="35" name="X circulo 1"/>
          <p:cNvSpPr/>
          <p:nvPr/>
        </p:nvSpPr>
        <p:spPr>
          <a:xfrm>
            <a:off x="7909560" y="2624328"/>
            <a:ext cx="393192" cy="39319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6" name="X 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144" y="2724912"/>
            <a:ext cx="192024" cy="192024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503920" y="24688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Flujo de aprobación del presupuesto</a:t>
            </a:r>
            <a:endParaRPr lang="en-US" sz="1400" dirty="0"/>
          </a:p>
        </p:txBody>
      </p:sp>
      <p:sp>
        <p:nvSpPr>
          <p:cNvPr id="38" name="X circulo 2"/>
          <p:cNvSpPr/>
          <p:nvPr/>
        </p:nvSpPr>
        <p:spPr>
          <a:xfrm>
            <a:off x="7909560" y="3538728"/>
            <a:ext cx="393192" cy="39319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9" name="X 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0144" y="3639312"/>
            <a:ext cx="192024" cy="192024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8503920" y="33832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Conciliación línea a línea con los módulos SAP FI/CO</a:t>
            </a:r>
            <a:endParaRPr lang="en-US" sz="1400" dirty="0"/>
          </a:p>
        </p:txBody>
      </p:sp>
      <p:sp>
        <p:nvSpPr>
          <p:cNvPr id="41" name="X circulo 3"/>
          <p:cNvSpPr/>
          <p:nvPr/>
        </p:nvSpPr>
        <p:spPr>
          <a:xfrm>
            <a:off x="7909560" y="4453128"/>
            <a:ext cx="393192" cy="39319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2" name="X 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0144" y="4553712"/>
            <a:ext cx="192024" cy="192024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503920" y="42976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Manejo multi-moneda</a:t>
            </a:r>
            <a:endParaRPr lang="en-US" sz="1400" dirty="0"/>
          </a:p>
        </p:txBody>
      </p:sp>
      <p:sp>
        <p:nvSpPr>
          <p:cNvPr id="44" name="X circulo 4"/>
          <p:cNvSpPr/>
          <p:nvPr/>
        </p:nvSpPr>
        <p:spPr>
          <a:xfrm>
            <a:off x="7909560" y="5367528"/>
            <a:ext cx="393192" cy="39319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5" name="X 4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0144" y="5468112"/>
            <a:ext cx="192024" cy="19202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8503920" y="52120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Detalle de comprobantes contables individuales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Áreas y centros de costo: la jerarquía base</a:t>
            </a:r>
            <a:endParaRPr lang="en-US" sz="3200" dirty="0"/>
          </a:p>
        </p:txBody>
      </p:sp>
      <p:sp>
        <p:nvSpPr>
          <p:cNvPr id="3" name="Tarjeta Área"/>
          <p:cNvSpPr/>
          <p:nvPr/>
        </p:nvSpPr>
        <p:spPr>
          <a:xfrm>
            <a:off x="548640" y="1554480"/>
            <a:ext cx="420624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Área circulo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Área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" y="201396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828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Área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Código de área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Nombre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Gerencia a la que pertenece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754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La empresa organiza su estructura en áreas o gerencias.</a:t>
            </a:r>
            <a:endParaRPr lang="en-US" sz="1400" dirty="0"/>
          </a:p>
        </p:txBody>
      </p:sp>
      <p:sp>
        <p:nvSpPr>
          <p:cNvPr id="9" name="Tarjeta Centro de costo"/>
          <p:cNvSpPr/>
          <p:nvPr/>
        </p:nvSpPr>
        <p:spPr>
          <a:xfrm>
            <a:off x="7434072" y="1554480"/>
            <a:ext cx="420624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10" name="Centro de costo circulo"/>
          <p:cNvSpPr/>
          <p:nvPr/>
        </p:nvSpPr>
        <p:spPr>
          <a:xfrm>
            <a:off x="7754112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entro de costo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278" y="2013966"/>
            <a:ext cx="315468" cy="3154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22792" y="1828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Centro de costo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7799832" y="27432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Código de centro de costo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Nombre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Área a la que pertenece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Responsable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Estado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799832" y="4754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Unidad mínima sobre la que se presupuesta y ejecuta el gasto.</a:t>
            </a:r>
            <a:endParaRPr lang="en-US" sz="1400" dirty="0"/>
          </a:p>
        </p:txBody>
      </p:sp>
      <p:sp>
        <p:nvSpPr>
          <p:cNvPr id="15" name="Conector"/>
          <p:cNvSpPr/>
          <p:nvPr/>
        </p:nvSpPr>
        <p:spPr>
          <a:xfrm>
            <a:off x="4754880" y="3108960"/>
            <a:ext cx="2679192" cy="0"/>
          </a:xfrm>
          <a:prstGeom prst="line">
            <a:avLst/>
          </a:prstGeom>
          <a:noFill/>
          <a:ln w="31750">
            <a:solidFill>
              <a:srgbClr val="0B4F4C"/>
            </a:solidFill>
            <a:prstDash val="solid"/>
            <a:tailEnd type="triangle"/>
          </a:ln>
        </p:spPr>
      </p:sp>
      <p:sp>
        <p:nvSpPr>
          <p:cNvPr id="16" name="Cardinalidad"/>
          <p:cNvSpPr/>
          <p:nvPr/>
        </p:nvSpPr>
        <p:spPr>
          <a:xfrm>
            <a:off x="5367528" y="2651760"/>
            <a:ext cx="914400" cy="91440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367528" y="2651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 : N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892040" y="3794760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centro de costo pertenece a una única área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Tres dimensiones para clasificar el análisis</a:t>
            </a:r>
            <a:endParaRPr lang="en-US" sz="3200" dirty="0"/>
          </a:p>
        </p:txBody>
      </p:sp>
      <p:sp>
        <p:nvSpPr>
          <p:cNvPr id="3" name="Tarjeta Cuentas presupuestarias"/>
          <p:cNvSpPr/>
          <p:nvPr/>
        </p:nvSpPr>
        <p:spPr>
          <a:xfrm>
            <a:off x="548640" y="155448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Cuentas presupuestarias circulo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uentas presupuestarias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00162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Cuentas presupuestarias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Clasifican el presupuesto y el gasto real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Código de cuenta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Nombre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Tipo de cuenta (ingreso / gasto)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Naturaleza (fijo / variable)</a:t>
            </a:r>
            <a:endParaRPr lang="en-US" sz="1500" dirty="0"/>
          </a:p>
        </p:txBody>
      </p:sp>
      <p:sp>
        <p:nvSpPr>
          <p:cNvPr id="9" name="Chip Cuentas presupuestarias"/>
          <p:cNvSpPr/>
          <p:nvPr/>
        </p:nvSpPr>
        <p:spPr>
          <a:xfrm>
            <a:off x="822960" y="5074920"/>
            <a:ext cx="297180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50749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Equivalente a una clase de coste</a:t>
            </a:r>
            <a:endParaRPr lang="en-US" sz="1400" dirty="0"/>
          </a:p>
        </p:txBody>
      </p:sp>
      <p:sp>
        <p:nvSpPr>
          <p:cNvPr id="11" name="Tarjeta Versiones de presupuesto"/>
          <p:cNvSpPr/>
          <p:nvPr/>
        </p:nvSpPr>
        <p:spPr>
          <a:xfrm>
            <a:off x="4343400" y="155448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2" name="Versiones de presupuesto circulo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Versiones de presupuesto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542" y="200162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Versiones de presupuesto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Revisiones del presupuesto durante el ejercicio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3337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Código de versión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Nombre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Fecha de aprobación</a:t>
            </a:r>
            <a:endParaRPr lang="en-US" sz="1500" dirty="0"/>
          </a:p>
        </p:txBody>
      </p:sp>
      <p:sp>
        <p:nvSpPr>
          <p:cNvPr id="17" name="Chip Versiones de presupuesto"/>
          <p:cNvSpPr/>
          <p:nvPr/>
        </p:nvSpPr>
        <p:spPr>
          <a:xfrm>
            <a:off x="4617720" y="5074920"/>
            <a:ext cx="297180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754880" y="50749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Ej.: presupuesto inicial, forecast Q2, forecast Q3</a:t>
            </a:r>
            <a:endParaRPr lang="en-US" sz="1400" dirty="0"/>
          </a:p>
        </p:txBody>
      </p:sp>
      <p:sp>
        <p:nvSpPr>
          <p:cNvPr id="19" name="Tarjeta Períodos"/>
          <p:cNvSpPr/>
          <p:nvPr/>
        </p:nvSpPr>
        <p:spPr>
          <a:xfrm>
            <a:off x="8138160" y="155448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20" name="Períodos circulo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Períodos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302" y="2001622"/>
            <a:ext cx="294437" cy="29443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89720" y="1828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Períodos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41248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Unidad de tiempo del análisis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412480" y="3337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Código de período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Año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Trimestre</a:t>
            </a:r>
            <a:endParaRPr lang="en-US" sz="1500" dirty="0"/>
          </a:p>
        </p:txBody>
      </p:sp>
      <p:sp>
        <p:nvSpPr>
          <p:cNvPr id="25" name="Chip Períodos"/>
          <p:cNvSpPr/>
          <p:nvPr/>
        </p:nvSpPr>
        <p:spPr>
          <a:xfrm>
            <a:off x="8412480" y="5074920"/>
            <a:ext cx="297180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549640" y="50749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Mensual, agrupable por trimestre y año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Presupuesto y gasto real: dos tablas de hechos</a:t>
            </a:r>
            <a:endParaRPr lang="en-US" sz="3200" dirty="0"/>
          </a:p>
        </p:txBody>
      </p:sp>
      <p:sp>
        <p:nvSpPr>
          <p:cNvPr id="3" name="Banda claves"/>
          <p:cNvSpPr/>
          <p:nvPr/>
        </p:nvSpPr>
        <p:spPr>
          <a:xfrm>
            <a:off x="548640" y="146304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Ambos se registran por:</a:t>
            </a:r>
            <a:endParaRPr lang="en-US" sz="1600" dirty="0"/>
          </a:p>
        </p:txBody>
      </p:sp>
      <p:sp>
        <p:nvSpPr>
          <p:cNvPr id="5" name="Clave 1"/>
          <p:cNvSpPr txBox="1"/>
          <p:nvPr/>
        </p:nvSpPr>
        <p:spPr>
          <a:xfrm>
            <a:off x="3749040" y="1600200"/>
            <a:ext cx="24688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Centro de costo</a:t>
            </a:r>
            <a:endParaRPr lang="en-US" sz="1500" dirty="0"/>
          </a:p>
        </p:txBody>
      </p:sp>
      <p:sp>
        <p:nvSpPr>
          <p:cNvPr id="6" name="Clave 2"/>
          <p:cNvSpPr txBox="1"/>
          <p:nvPr/>
        </p:nvSpPr>
        <p:spPr>
          <a:xfrm>
            <a:off x="6400800" y="1600200"/>
            <a:ext cx="24688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Cuenta presupuestaria</a:t>
            </a:r>
            <a:endParaRPr lang="en-US" sz="1500" dirty="0"/>
          </a:p>
        </p:txBody>
      </p:sp>
      <p:sp>
        <p:nvSpPr>
          <p:cNvPr id="7" name="Clave 3"/>
          <p:cNvSpPr txBox="1"/>
          <p:nvPr/>
        </p:nvSpPr>
        <p:spPr>
          <a:xfrm>
            <a:off x="9052560" y="1600200"/>
            <a:ext cx="24688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Período</a:t>
            </a:r>
            <a:endParaRPr lang="en-US" sz="1500" dirty="0"/>
          </a:p>
        </p:txBody>
      </p:sp>
      <p:sp>
        <p:nvSpPr>
          <p:cNvPr id="8" name="Tarjeta Presupuesto"/>
          <p:cNvSpPr/>
          <p:nvPr/>
        </p:nvSpPr>
        <p:spPr>
          <a:xfrm>
            <a:off x="548640" y="2468880"/>
            <a:ext cx="5394960" cy="37490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9" name="Presupuesto circulo"/>
          <p:cNvSpPr/>
          <p:nvPr/>
        </p:nvSpPr>
        <p:spPr>
          <a:xfrm>
            <a:off x="868680" y="2697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resupuesto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87030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737360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Presupuesto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520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Monto asignado por centro de costo, cuenta y período, según una versión determinada.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206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Además registra:</a:t>
            </a:r>
            <a:endParaRPr lang="en-US" sz="1200" dirty="0"/>
          </a:p>
        </p:txBody>
      </p:sp>
      <p:sp>
        <p:nvSpPr>
          <p:cNvPr id="14" name="Presupuesto casilla 1"/>
          <p:cNvSpPr/>
          <p:nvPr/>
        </p:nvSpPr>
        <p:spPr>
          <a:xfrm>
            <a:off x="868680" y="4553712"/>
            <a:ext cx="475488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15" name="Presupuesto campo 1"/>
          <p:cNvSpPr txBox="1"/>
          <p:nvPr/>
        </p:nvSpPr>
        <p:spPr>
          <a:xfrm>
            <a:off x="1097280" y="455371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Versión de presupuesto</a:t>
            </a:r>
            <a:endParaRPr lang="en-US" sz="1500" dirty="0"/>
          </a:p>
        </p:txBody>
      </p:sp>
      <p:sp>
        <p:nvSpPr>
          <p:cNvPr id="16" name="Presupuesto casilla 2"/>
          <p:cNvSpPr/>
          <p:nvPr/>
        </p:nvSpPr>
        <p:spPr>
          <a:xfrm>
            <a:off x="868680" y="5084064"/>
            <a:ext cx="475488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17" name="Presupuesto campo 2"/>
          <p:cNvSpPr txBox="1"/>
          <p:nvPr/>
        </p:nvSpPr>
        <p:spPr>
          <a:xfrm>
            <a:off x="1097280" y="508406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Monto presupuestado</a:t>
            </a:r>
            <a:endParaRPr lang="en-US" sz="1500" dirty="0"/>
          </a:p>
        </p:txBody>
      </p:sp>
      <p:sp>
        <p:nvSpPr>
          <p:cNvPr id="18" name="Tarjeta Gasto real"/>
          <p:cNvSpPr/>
          <p:nvPr/>
        </p:nvSpPr>
        <p:spPr>
          <a:xfrm>
            <a:off x="6245352" y="2468880"/>
            <a:ext cx="5394960" cy="37490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19" name="Gasto real circulo"/>
          <p:cNvSpPr/>
          <p:nvPr/>
        </p:nvSpPr>
        <p:spPr>
          <a:xfrm>
            <a:off x="6565392" y="2697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Gasto real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14" y="2870302"/>
            <a:ext cx="294437" cy="29443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434072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Gasto real</a:t>
            </a:r>
            <a:endParaRPr lang="en-US" sz="2400" dirty="0"/>
          </a:p>
        </p:txBody>
      </p:sp>
      <p:sp>
        <p:nvSpPr>
          <p:cNvPr id="22" name="Text 18"/>
          <p:cNvSpPr txBox="1"/>
          <p:nvPr/>
        </p:nvSpPr>
        <p:spPr>
          <a:xfrm>
            <a:off x="6565392" y="35204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Gasto ejecutado en cada período, registrado contra una cuenta presupuestaria.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565392" y="4206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Además registra:</a:t>
            </a:r>
            <a:endParaRPr lang="en-US" sz="1200" dirty="0"/>
          </a:p>
        </p:txBody>
      </p:sp>
      <p:sp>
        <p:nvSpPr>
          <p:cNvPr id="24" name="Gasto real casilla 1"/>
          <p:cNvSpPr/>
          <p:nvPr/>
        </p:nvSpPr>
        <p:spPr>
          <a:xfrm>
            <a:off x="6565392" y="4553712"/>
            <a:ext cx="475488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25" name="Gasto real campo 1"/>
          <p:cNvSpPr txBox="1"/>
          <p:nvPr/>
        </p:nvSpPr>
        <p:spPr>
          <a:xfrm>
            <a:off x="6793992" y="455371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Monto real</a:t>
            </a:r>
            <a:endParaRPr lang="en-US" sz="1500" dirty="0"/>
          </a:p>
        </p:txBody>
      </p:sp>
      <p:sp>
        <p:nvSpPr>
          <p:cNvPr id="26" name="Gasto real casilla 2"/>
          <p:cNvSpPr/>
          <p:nvPr/>
        </p:nvSpPr>
        <p:spPr>
          <a:xfrm>
            <a:off x="6565392" y="5084064"/>
            <a:ext cx="475488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27" name="Gasto real campo 2"/>
          <p:cNvSpPr txBox="1"/>
          <p:nvPr/>
        </p:nvSpPr>
        <p:spPr>
          <a:xfrm>
            <a:off x="6793992" y="508406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Documento de origen</a:t>
            </a:r>
            <a:endParaRPr lang="en-US" sz="1500" dirty="0"/>
          </a:p>
        </p:txBody>
      </p:sp>
      <p:sp>
        <p:nvSpPr>
          <p:cNvPr id="28" name="Gasto real casilla 3"/>
          <p:cNvSpPr/>
          <p:nvPr/>
        </p:nvSpPr>
        <p:spPr>
          <a:xfrm>
            <a:off x="6565392" y="5614416"/>
            <a:ext cx="475488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/>
        </p:spPr>
      </p:sp>
      <p:sp>
        <p:nvSpPr>
          <p:cNvPr id="29" name="Gasto real campo 3"/>
          <p:cNvSpPr txBox="1"/>
          <p:nvPr/>
        </p:nvSpPr>
        <p:spPr>
          <a:xfrm>
            <a:off x="6793992" y="561441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Fecha de registro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Vista general del modelo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DIMENSIONES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HECHOS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9536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DIMENSIÓN DEL PRESUPUESTO</a:t>
            </a:r>
            <a:endParaRPr lang="en-US" sz="1200" dirty="0"/>
          </a:p>
        </p:txBody>
      </p:sp>
      <p:sp>
        <p:nvSpPr>
          <p:cNvPr id="6" name="Relacion area"/>
          <p:cNvSpPr/>
          <p:nvPr/>
        </p:nvSpPr>
        <p:spPr>
          <a:xfrm>
            <a:off x="2011680" y="2560320"/>
            <a:ext cx="0" cy="274320"/>
          </a:xfrm>
          <a:prstGeom prst="line">
            <a:avLst/>
          </a:prstGeom>
          <a:noFill/>
          <a:ln w="31750">
            <a:solidFill>
              <a:srgbClr val="5E9C95"/>
            </a:solidFill>
            <a:prstDash val="solid"/>
          </a:ln>
        </p:spPr>
      </p:sp>
      <p:sp>
        <p:nvSpPr>
          <p:cNvPr id="7" name="Relacion"/>
          <p:cNvSpPr/>
          <p:nvPr/>
        </p:nvSpPr>
        <p:spPr>
          <a:xfrm flipV="1">
            <a:off x="3383280" y="3063240"/>
            <a:ext cx="1371600" cy="137160"/>
          </a:xfrm>
          <a:prstGeom prst="line">
            <a:avLst/>
          </a:prstGeom>
          <a:noFill/>
          <a:ln w="19050">
            <a:solidFill>
              <a:srgbClr val="5E9C95"/>
            </a:solidFill>
            <a:prstDash val="solid"/>
          </a:ln>
        </p:spPr>
      </p:sp>
      <p:sp>
        <p:nvSpPr>
          <p:cNvPr id="8" name="Relacion"/>
          <p:cNvSpPr/>
          <p:nvPr/>
        </p:nvSpPr>
        <p:spPr>
          <a:xfrm>
            <a:off x="3383280" y="3200400"/>
            <a:ext cx="1371600" cy="1600200"/>
          </a:xfrm>
          <a:prstGeom prst="line">
            <a:avLst/>
          </a:prstGeom>
          <a:noFill/>
          <a:ln w="19050">
            <a:solidFill>
              <a:srgbClr val="5E9C95"/>
            </a:solidFill>
            <a:prstDash val="solid"/>
          </a:ln>
        </p:spPr>
      </p:sp>
      <p:sp>
        <p:nvSpPr>
          <p:cNvPr id="9" name="Relacion"/>
          <p:cNvSpPr/>
          <p:nvPr/>
        </p:nvSpPr>
        <p:spPr>
          <a:xfrm flipV="1">
            <a:off x="3383280" y="3063240"/>
            <a:ext cx="1371600" cy="1143000"/>
          </a:xfrm>
          <a:prstGeom prst="line">
            <a:avLst/>
          </a:prstGeom>
          <a:noFill/>
          <a:ln w="19050">
            <a:solidFill>
              <a:srgbClr val="5E9C95"/>
            </a:solidFill>
            <a:prstDash val="solid"/>
          </a:ln>
        </p:spPr>
      </p:sp>
      <p:sp>
        <p:nvSpPr>
          <p:cNvPr id="10" name="Relacion"/>
          <p:cNvSpPr/>
          <p:nvPr/>
        </p:nvSpPr>
        <p:spPr>
          <a:xfrm>
            <a:off x="3383280" y="4206240"/>
            <a:ext cx="1371600" cy="594360"/>
          </a:xfrm>
          <a:prstGeom prst="line">
            <a:avLst/>
          </a:prstGeom>
          <a:noFill/>
          <a:ln w="19050">
            <a:solidFill>
              <a:srgbClr val="5E9C95"/>
            </a:solidFill>
            <a:prstDash val="solid"/>
          </a:ln>
        </p:spPr>
      </p:sp>
      <p:sp>
        <p:nvSpPr>
          <p:cNvPr id="11" name="Relacion"/>
          <p:cNvSpPr/>
          <p:nvPr/>
        </p:nvSpPr>
        <p:spPr>
          <a:xfrm flipV="1">
            <a:off x="3383280" y="3063240"/>
            <a:ext cx="1371600" cy="2148840"/>
          </a:xfrm>
          <a:prstGeom prst="line">
            <a:avLst/>
          </a:prstGeom>
          <a:noFill/>
          <a:ln w="19050">
            <a:solidFill>
              <a:srgbClr val="5E9C95"/>
            </a:solidFill>
            <a:prstDash val="solid"/>
          </a:ln>
        </p:spPr>
      </p:sp>
      <p:sp>
        <p:nvSpPr>
          <p:cNvPr id="12" name="Relacion"/>
          <p:cNvSpPr/>
          <p:nvPr/>
        </p:nvSpPr>
        <p:spPr>
          <a:xfrm flipV="1">
            <a:off x="3383280" y="4800600"/>
            <a:ext cx="1371600" cy="411480"/>
          </a:xfrm>
          <a:prstGeom prst="line">
            <a:avLst/>
          </a:prstGeom>
          <a:noFill/>
          <a:ln w="19050">
            <a:solidFill>
              <a:srgbClr val="5E9C95"/>
            </a:solidFill>
            <a:prstDash val="solid"/>
          </a:ln>
        </p:spPr>
      </p:sp>
      <p:sp>
        <p:nvSpPr>
          <p:cNvPr id="13" name="Relacion"/>
          <p:cNvSpPr/>
          <p:nvPr/>
        </p:nvSpPr>
        <p:spPr>
          <a:xfrm>
            <a:off x="7680960" y="3063240"/>
            <a:ext cx="914400" cy="0"/>
          </a:xfrm>
          <a:prstGeom prst="line">
            <a:avLst/>
          </a:prstGeom>
          <a:noFill/>
          <a:ln w="19050">
            <a:solidFill>
              <a:srgbClr val="5E9C95"/>
            </a:solidFill>
            <a:prstDash val="solid"/>
          </a:ln>
        </p:spPr>
      </p:sp>
      <p:sp>
        <p:nvSpPr>
          <p:cNvPr id="14" name="Dim Áreas"/>
          <p:cNvSpPr txBox="1"/>
          <p:nvPr/>
        </p:nvSpPr>
        <p:spPr>
          <a:xfrm>
            <a:off x="640080" y="182880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5875">
            <a:solidFill>
              <a:srgbClr val="5E9C9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Áreas</a:t>
            </a:r>
            <a:endParaRPr lang="en-US" sz="1600" dirty="0"/>
          </a:p>
        </p:txBody>
      </p:sp>
      <p:sp>
        <p:nvSpPr>
          <p:cNvPr id="15" name="Dim Centros de costo"/>
          <p:cNvSpPr txBox="1"/>
          <p:nvPr/>
        </p:nvSpPr>
        <p:spPr>
          <a:xfrm>
            <a:off x="640080" y="283464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5875">
            <a:solidFill>
              <a:srgbClr val="5E9C9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Centros de costo</a:t>
            </a:r>
            <a:endParaRPr lang="en-US" sz="1600" dirty="0"/>
          </a:p>
        </p:txBody>
      </p:sp>
      <p:sp>
        <p:nvSpPr>
          <p:cNvPr id="16" name="Dim Cuentas presupuestarias"/>
          <p:cNvSpPr txBox="1"/>
          <p:nvPr/>
        </p:nvSpPr>
        <p:spPr>
          <a:xfrm>
            <a:off x="640080" y="384048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5875">
            <a:solidFill>
              <a:srgbClr val="5E9C9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Cuentas presupuestarias</a:t>
            </a:r>
            <a:endParaRPr lang="en-US" sz="1600" dirty="0"/>
          </a:p>
        </p:txBody>
      </p:sp>
      <p:sp>
        <p:nvSpPr>
          <p:cNvPr id="17" name="Dim Períodos"/>
          <p:cNvSpPr txBox="1"/>
          <p:nvPr/>
        </p:nvSpPr>
        <p:spPr>
          <a:xfrm>
            <a:off x="640080" y="4846320"/>
            <a:ext cx="27432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5875">
            <a:solidFill>
              <a:srgbClr val="5E9C9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Períodos</a:t>
            </a:r>
            <a:endParaRPr lang="en-US" sz="1600" dirty="0"/>
          </a:p>
        </p:txBody>
      </p:sp>
      <p:sp>
        <p:nvSpPr>
          <p:cNvPr id="18" name="Hecho Presupuesto"/>
          <p:cNvSpPr/>
          <p:nvPr/>
        </p:nvSpPr>
        <p:spPr>
          <a:xfrm>
            <a:off x="4754880" y="2468880"/>
            <a:ext cx="292608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4880" y="2651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Presupuesto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Monto presupuestado</a:t>
            </a:r>
            <a:endParaRPr lang="en-US" sz="1400" dirty="0"/>
          </a:p>
        </p:txBody>
      </p:sp>
      <p:sp>
        <p:nvSpPr>
          <p:cNvPr id="21" name="Hecho Gasto real"/>
          <p:cNvSpPr/>
          <p:nvPr/>
        </p:nvSpPr>
        <p:spPr>
          <a:xfrm>
            <a:off x="4754880" y="4206240"/>
            <a:ext cx="2926080" cy="118872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4389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Gasto real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Monto real</a:t>
            </a:r>
            <a:endParaRPr lang="en-US" sz="1400" dirty="0"/>
          </a:p>
        </p:txBody>
      </p:sp>
      <p:sp>
        <p:nvSpPr>
          <p:cNvPr id="24" name="Dim Versiones"/>
          <p:cNvSpPr txBox="1"/>
          <p:nvPr/>
        </p:nvSpPr>
        <p:spPr>
          <a:xfrm>
            <a:off x="8595360" y="2697480"/>
            <a:ext cx="301752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5875">
            <a:solidFill>
              <a:srgbClr val="5E9C9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Versiones de presupuesto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38404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Cada hecho se analiza por centro de costo, cuenta y período; el presupuesto además por versión.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Preguntas que el modelo debe poder responder</a:t>
            </a:r>
            <a:endParaRPr lang="en-US" sz="3200" dirty="0"/>
          </a:p>
        </p:txBody>
      </p:sp>
      <p:sp>
        <p:nvSpPr>
          <p:cNvPr id="3" name="Formula"/>
          <p:cNvSpPr txBox="1"/>
          <p:nvPr/>
        </p:nvSpPr>
        <p:spPr>
          <a:xfrm>
            <a:off x="548640" y="1371600"/>
            <a:ext cx="438912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Desviación = real − presupuesto</a:t>
            </a:r>
            <a:endParaRPr lang="en-US" sz="1700" dirty="0"/>
          </a:p>
        </p:txBody>
      </p:sp>
      <p:sp>
        <p:nvSpPr>
          <p:cNvPr id="4" name="Grupo Por centro de costo"/>
          <p:cNvSpPr/>
          <p:nvPr/>
        </p:nvSpPr>
        <p:spPr>
          <a:xfrm>
            <a:off x="548640" y="2148840"/>
            <a:ext cx="448056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5" name="Por centro de costo circulo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or centro de costo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5255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3774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Por centro de costo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3977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¿Cuál es el presupuesto total asignado a cada centro de costo?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¿Cuál es el gasto real total por centro de costo?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¿Cuál es la desviación (real − presupuesto) por centro de costo y por cuenta?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¿Qué centros de costo presentan mayor sobreejecución presupuestal?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¿Qué centros de costo presentan subejecución significativa?</a:t>
            </a:r>
            <a:endParaRPr lang="en-US" sz="1400" dirty="0"/>
          </a:p>
        </p:txBody>
      </p:sp>
      <p:sp>
        <p:nvSpPr>
          <p:cNvPr id="9" name="Grupo Por cuenta y área"/>
          <p:cNvSpPr/>
          <p:nvPr/>
        </p:nvSpPr>
        <p:spPr>
          <a:xfrm>
            <a:off x="5303520" y="2148840"/>
            <a:ext cx="3291840" cy="36576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Por cuenta y área circulo"/>
          <p:cNvSpPr/>
          <p:nvPr/>
        </p:nvSpPr>
        <p:spPr>
          <a:xfrm>
            <a:off x="5577840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or cuenta y área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973" y="252557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63640" y="2377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Por cuenta y área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320040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¿Qué cuentas presupuestarias concentran mayor desviación?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¿Qué área acumula mayor desviación en el período?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¿Cuál es el porcentaje de ejecución presupuestal por área?</a:t>
            </a:r>
            <a:endParaRPr lang="en-US" sz="1400" dirty="0"/>
          </a:p>
        </p:txBody>
      </p:sp>
      <p:sp>
        <p:nvSpPr>
          <p:cNvPr id="14" name="Grupo En el tiempo"/>
          <p:cNvSpPr/>
          <p:nvPr/>
        </p:nvSpPr>
        <p:spPr>
          <a:xfrm>
            <a:off x="8869680" y="2148840"/>
            <a:ext cx="2770632" cy="3657600"/>
          </a:xfrm>
          <a:prstGeom prst="roundRect">
            <a:avLst>
              <a:gd name="adj" fmla="val 3960"/>
            </a:avLst>
          </a:prstGeom>
          <a:solidFill>
            <a:schemeClr val="bg2"/>
          </a:solidFill>
          <a:ln/>
        </p:spPr>
      </p:sp>
      <p:sp>
        <p:nvSpPr>
          <p:cNvPr id="15" name="En el tiempo circulo"/>
          <p:cNvSpPr/>
          <p:nvPr/>
        </p:nvSpPr>
        <p:spPr>
          <a:xfrm>
            <a:off x="9144000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En el tiempo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133" y="252557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829800" y="237744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 el tiempo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0" y="3200400"/>
            <a:ext cx="22677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¿Cómo evoluciona mensualmente la desviación de un centro de costo?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¿Cómo se compara el presupuesto inicial frente al forecast revisado y frente al real ejecutado?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 de Gestion">
  <a:themeElements>
    <a:clrScheme name="Control de Gestion">
      <a:dk1>
        <a:srgbClr val="1C2B2D"/>
      </a:dk1>
      <a:lt1>
        <a:srgbClr val="FFFFFF"/>
      </a:lt1>
      <a:dk2>
        <a:srgbClr val="0B4F4C"/>
      </a:dk2>
      <a:lt2>
        <a:srgbClr val="EAF3F1"/>
      </a:lt2>
      <a:accent1>
        <a:srgbClr val="13736E"/>
      </a:accent1>
      <a:accent2>
        <a:srgbClr val="E9A23B"/>
      </a:accent2>
      <a:accent3>
        <a:srgbClr val="C4553B"/>
      </a:accent3>
      <a:accent4>
        <a:srgbClr val="5E9C95"/>
      </a:accent4>
      <a:accent5>
        <a:srgbClr val="A9CFC9"/>
      </a:accent5>
      <a:accent6>
        <a:srgbClr val="34494B"/>
      </a:accent6>
      <a:hlink>
        <a:srgbClr val="13736E"/>
      </a:hlink>
      <a:folHlink>
        <a:srgbClr val="5E9C95"/>
      </a:folHlink>
    </a:clrScheme>
    <a:fontScheme name="Control de Ges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de gestión: presupuesto vs. real por centro de costo</dc:title>
  <dc:subject>PptxGenJS Presentation</dc:subject>
  <dc:creator>PptxGenJS</dc:creator>
  <cp:lastModifiedBy>PptxGenJS</cp:lastModifiedBy>
  <cp:revision>1</cp:revision>
  <dcterms:created xsi:type="dcterms:W3CDTF">2026-10-08T01:57:54Z</dcterms:created>
  <dcterms:modified xsi:type="dcterms:W3CDTF">2026-10-08T01:57:54Z</dcterms:modified>
</cp:coreProperties>
</file>